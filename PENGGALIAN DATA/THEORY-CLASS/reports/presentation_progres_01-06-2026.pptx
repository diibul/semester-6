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Mining — E-commerce Customer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Analisis Transaksi Penjualan &amp; GMM Clustering</a:t>
            </a:r>
          </a:p>
          <a:p>
            <a:r>
              <a:t>Muhammad Iqbal Fadel | Semester 6 |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Exploratory Data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visualisasi dari 522,601 transaksi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20 Products by Revenue</a:t>
            </a:r>
          </a:p>
        </p:txBody>
      </p:sp>
      <p:pic>
        <p:nvPicPr>
          <p:cNvPr id="3" name="Picture 2" descr="top20_products_b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280160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15 Countries by Sales</a:t>
            </a:r>
          </a:p>
        </p:txBody>
      </p:sp>
      <p:pic>
        <p:nvPicPr>
          <p:cNvPr id="3" name="Picture 2" descr="top15_countries_b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80160"/>
            <a:ext cx="838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Quantity Distribution</a:t>
            </a:r>
          </a:p>
        </p:txBody>
      </p:sp>
      <p:pic>
        <p:nvPicPr>
          <p:cNvPr id="3" name="Picture 2" descr="quant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Amount Boxplot (Outlier Detection)</a:t>
            </a:r>
          </a:p>
        </p:txBody>
      </p:sp>
      <p:pic>
        <p:nvPicPr>
          <p:cNvPr id="3" name="Picture 2" descr="totalamou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RFM Customer Segmentation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segmen pelanggan berdasarkan Recency, Frequency, Monetary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Segment Distribution</a:t>
            </a:r>
          </a:p>
        </p:txBody>
      </p:sp>
      <p:pic>
        <p:nvPicPr>
          <p:cNvPr id="3" name="Picture 2" descr="rfm_segm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Segment Averages Heatmap</a:t>
            </a:r>
          </a:p>
        </p:txBody>
      </p:sp>
      <p:pic>
        <p:nvPicPr>
          <p:cNvPr id="3" name="Picture 2" descr="rfm_segment_averag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373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Advanced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Basket Analysis, Cohort Retention, Sales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 Pairs (Basket Analysis)</a:t>
            </a:r>
          </a:p>
        </p:txBody>
      </p:sp>
      <p:pic>
        <p:nvPicPr>
          <p:cNvPr id="3" name="Picture 2" descr="basket_top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280160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 Cohort Heatmap</a:t>
            </a:r>
          </a:p>
        </p:txBody>
      </p:sp>
      <p:pic>
        <p:nvPicPr>
          <p:cNvPr id="3" name="Picture 2" descr="cohort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Forecast (Linear Trend)</a:t>
            </a:r>
          </a:p>
        </p:txBody>
      </p:sp>
      <p:pic>
        <p:nvPicPr>
          <p:cNvPr id="3" name="Picture 2" descr="monthly_sales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Machine Learning — Baseline RandomForest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Cross-validation, Feature Importance, ROC AUC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Baseline RandomForest</a:t>
            </a:r>
          </a:p>
        </p:txBody>
      </p:sp>
      <p:pic>
        <p:nvPicPr>
          <p:cNvPr id="3" name="Picture 2" descr="baseline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42" y="1280160"/>
            <a:ext cx="63517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(Gini)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46490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03" y="1280160"/>
            <a:ext cx="56115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5-Fold Cross-Validation Scores</a:t>
            </a:r>
          </a:p>
        </p:txBody>
      </p:sp>
      <p:pic>
        <p:nvPicPr>
          <p:cNvPr id="3" name="Picture 2" descr="cross_validation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48673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Feature Selection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Correlation-based, Backward Elimination, Model-based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 Comparison</a:t>
            </a:r>
          </a:p>
        </p:txBody>
      </p:sp>
      <p:pic>
        <p:nvPicPr>
          <p:cNvPr id="3" name="Picture 2" descr="feature_sel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82" y="1280160"/>
            <a:ext cx="69872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pic>
        <p:nvPicPr>
          <p:cNvPr id="3" name="Picture 2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50009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HIGHLIGHT: GMM Clustering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Gaussian Mixture Model — Probabilistic Customer Segmentation</a:t>
            </a:r>
          </a:p>
          <a:p>
            <a:r>
              <a:t>9 cluster optimal via BIC/AIC | 7 visualisasi profesional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BIC &amp; AIC Cluster Selection</a:t>
            </a:r>
          </a:p>
        </p:txBody>
      </p:sp>
      <p:pic>
        <p:nvPicPr>
          <p:cNvPr id="3" name="Picture 2" descr="gmm_bic_aic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71" y="1280160"/>
            <a:ext cx="794625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PCA 2D Projection</a:t>
            </a:r>
          </a:p>
        </p:txBody>
      </p:sp>
      <p:pic>
        <p:nvPicPr>
          <p:cNvPr id="3" name="Picture 2" descr="gmm_cluster_scatter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98" y="1280160"/>
            <a:ext cx="657300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PCA 3D Projection</a:t>
            </a:r>
          </a:p>
        </p:txBody>
      </p:sp>
      <p:pic>
        <p:nvPicPr>
          <p:cNvPr id="3" name="Picture 2" descr="gmm_cluster_scatter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20" y="1280160"/>
            <a:ext cx="486975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Cluster Profiles — Radar Chart</a:t>
            </a:r>
          </a:p>
        </p:txBody>
      </p:sp>
      <p:pic>
        <p:nvPicPr>
          <p:cNvPr id="3" name="Picture 2" descr="gmm_cluster_profile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40" y="1280160"/>
            <a:ext cx="578991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Cluster Distribution</a:t>
            </a:r>
          </a:p>
        </p:txBody>
      </p:sp>
      <p:pic>
        <p:nvPicPr>
          <p:cNvPr id="3" name="Picture 2" descr="gmm_clust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28" y="1280160"/>
            <a:ext cx="724974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GMM: Membership Probability Heatmap</a:t>
            </a:r>
          </a:p>
        </p:txBody>
      </p:sp>
      <p:pic>
        <p:nvPicPr>
          <p:cNvPr id="3" name="Picture 2" descr="gmm_probabil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48" y="1280160"/>
            <a:ext cx="619110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 vs RFM — Cross-tabulation Comparison</a:t>
            </a:r>
          </a:p>
        </p:txBody>
      </p:sp>
      <p:pic>
        <p:nvPicPr>
          <p:cNvPr id="3" name="Picture 2" descr="gmm_vs_rf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4" y="1280160"/>
            <a:ext cx="8231531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